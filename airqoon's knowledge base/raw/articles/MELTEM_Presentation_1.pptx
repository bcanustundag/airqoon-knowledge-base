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8432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4464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0496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96528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0"/>
            <a:ext cx="128016" cy="5143500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MELTEM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594360" y="1298448"/>
            <a:ext cx="7772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8988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0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 Real-Time Online Platform for Social Resilience Against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0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of Natural and Man-Made Disasters on Air Quality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0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Mediterranean Cities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2487168"/>
            <a:ext cx="3840480" cy="347472"/>
          </a:xfrm>
          <a:prstGeom prst="rect">
            <a:avLst/>
          </a:prstGeom>
          <a:solidFill>
            <a:srgbClr val="0E7490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TÜBİTAK-GSRI 2+2 Bilateral R&amp;D Call  |  Project No: 125R175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Barış Can Üstündağ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  ·  Innovathink Mühendislik A.Ş. / Airqoon  ·  Partner 2 – WP3 Lead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547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041648"/>
            <a:ext cx="1993392" cy="384048"/>
          </a:xfrm>
          <a:prstGeom prst="rect">
            <a:avLst/>
          </a:prstGeom>
          <a:solidFill>
            <a:srgbClr val="334155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41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Boğaziçi University (TR)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79192" y="4041648"/>
            <a:ext cx="1993392" cy="384048"/>
          </a:xfrm>
          <a:prstGeom prst="rect">
            <a:avLst/>
          </a:prstGeom>
          <a:solidFill>
            <a:srgbClr val="334155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4041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Innovathink / Airqoon (TR)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64024" y="4041648"/>
            <a:ext cx="1993392" cy="384048"/>
          </a:xfrm>
          <a:prstGeom prst="rect">
            <a:avLst/>
          </a:prstGeom>
          <a:solidFill>
            <a:srgbClr val="334155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4041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Crete (GR)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48856" y="4041648"/>
            <a:ext cx="1993392" cy="384048"/>
          </a:xfrm>
          <a:prstGeom prst="rect">
            <a:avLst/>
          </a:prstGeom>
          <a:solidFill>
            <a:srgbClr val="334155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4041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GETMAP / GET (GR)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CONSORTIUM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partners · Two countries · One integrated 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68096"/>
            <a:ext cx="41605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68096"/>
            <a:ext cx="416052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68096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Boğaziçi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 Turkey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39410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Lead — Atmospheric chemistry, fixed supersite measurements, Turkish-side coordination. Established AQMS at Bebek and Sarıtepe campuses.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768096"/>
            <a:ext cx="41605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768096"/>
            <a:ext cx="4160520" cy="4206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768096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Innovathink / Airqoon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1225296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 Turkey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44568" y="1463040"/>
            <a:ext cx="39410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 Lead — Sensor design, manufacturing, laboratory calibration, 18-unit field deployment, 24-month network operation. Only partner with sensors already operating at scale across Turkish cities.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225296"/>
            <a:ext cx="1078992" cy="219456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2252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This presenter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4592" y="2660904"/>
            <a:ext cx="41605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4592" y="2660904"/>
            <a:ext cx="416052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60904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 Crete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11810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🇬🇷  Greece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355848"/>
            <a:ext cx="39410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WP4–5 Lead — Atmospheric chemistry, FLEXPART dispersion modeling, ACTRIS access. Kanakidou (h=59) &amp; Mihalopoulos (h=85).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2660904"/>
            <a:ext cx="41605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2660904"/>
            <a:ext cx="416052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660904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GETMAP / GET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44568" y="311810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🇬🇷  Greece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44568" y="3355848"/>
            <a:ext cx="39410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WP6 Lead — Geospatial platform design and development. Near real-time data acquisition, visualization, and pilot deployment in both cities.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" y="4645152"/>
            <a:ext cx="8823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24 months  ·  Airqoon requested budget: 105,410 TL (75% SME support rate — TÜBİTAK 1071)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27264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2752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0496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15984" y="0"/>
            <a:ext cx="118872" cy="514350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1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45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1  —  TURKISH ACADEMIC PARTNER  ·  WP1 &amp; WP2 LEAD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40233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Boğaziçi University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66928" y="969264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Environmental Sciences — atmospheric chemistry, urban air quality, continuous monitoring since the 1990s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1280160"/>
            <a:ext cx="8412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371600"/>
            <a:ext cx="4078224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37160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IN MELTEM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4078224" cy="89611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64208"/>
            <a:ext cx="64008" cy="8961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7465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Supersite Measurements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2011680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reference-grade supersites in Istanbul: Bebek (urban background) &amp; Sarıtepe (suburban). PM, gas, PAH, BC, OP, LDSA continuous sampling.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2633472"/>
            <a:ext cx="4078224" cy="89611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33472"/>
            <a:ext cx="64008" cy="896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71576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Management &amp; Coordination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2980944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lead — bilateral TR-GR coordination, milestone reporting, TÜBİTAK liaison, budget oversight. All partners under single management framework.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3602736"/>
            <a:ext cx="4078224" cy="89611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602736"/>
            <a:ext cx="64008" cy="8961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850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Cross-Validation Host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950208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 Unit L sensors co-located with BU reference instruments for calibration ground-truth — key to CEN/TS 17660 compliance pathway.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28032" y="1371600"/>
            <a:ext cx="4151376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371600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RESEARCHERS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1664208"/>
            <a:ext cx="4151376" cy="1371600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664208"/>
            <a:ext cx="64008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7556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Prof. Dr. Fatma Öztürk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0116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Investigator  ·  All WPs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92624" y="2231136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&amp; PhD, METU Environmental Engineering. Post-doc at NOAA (2010–2012). PI for 10+ TÜBİTAK projects, 30+ high-impact publications, 2 PhD &amp; 8 MSc graduates. Expert in atmospheric chemistry and air quality monitoring.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28032" y="3108960"/>
            <a:ext cx="4151376" cy="1371600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3108960"/>
            <a:ext cx="64008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2004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Assoc. Prof. Dr. Burçak Kaynak Tezel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92624" y="345643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 ·  WP5 — Satellite Data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92624" y="3675888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Georgia Institute of Technology. Marie Curie International Reintegration Grant. Expert in air quality modeling and satellite retrievals (İTÜ). Leads WP5 satellite data acquisition and wildfire/agricultural pollution analysis.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28032" y="4572000"/>
            <a:ext cx="4151376" cy="25603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5720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graduate students contributing across WP2, WP4, and WP7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27264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2752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0496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15984" y="0"/>
            <a:ext cx="118872" cy="51435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45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İTÜ CONTRIBUTION  —  VIA BOĞAZIÇI UNIVERSITY  ·  WP5 SATELLITE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402336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İstanbul Teknik Üniversitesi  (İTÜ)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1155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MELTEM through Boğaziçi University — satellite data acquisition, air quality modeling, wildfire and agricultural pollution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1499616"/>
            <a:ext cx="84124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609344"/>
            <a:ext cx="84124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6093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IN MELTEM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1883664"/>
            <a:ext cx="8412480" cy="932688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883664"/>
            <a:ext cx="64008" cy="9326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965960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WP5 — Satellite Data Acquisition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2221992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Burçak Kaynak Tezel leads satellite retrieval integration in WP5. Combines satellite observations with FLEXPART dispersion modeling for extreme pollution event source attribution.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889504"/>
            <a:ext cx="8412480" cy="932688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889504"/>
            <a:ext cx="64008" cy="9326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971800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Quality Modeling Expertise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" y="3227832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 combining satellite retrievals with air quality modeling to improve understanding of atmospheric pollutant interactions — directly aligned with MELTEM's Saharan dust and wildfire event detection objectives.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895344"/>
            <a:ext cx="8412480" cy="932688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895344"/>
            <a:ext cx="64008" cy="9326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977640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Credentials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4233672"/>
            <a:ext cx="8101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Georgia Institute of Technology. Marie Curie International Reintegration Grant recipient. Research focus: wildfire and agricultural impacts on air pollution.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4590288"/>
            <a:ext cx="8412480" cy="237744"/>
          </a:xfrm>
          <a:prstGeom prst="rect">
            <a:avLst/>
          </a:prstGeom>
          <a:solidFill>
            <a:srgbClr val="08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5902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via Boğaziçi University  ·  Department of Meteorological Engineering, İTÜ  ·  Maslak Campus, Istanbul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Mediterranean — a confirmed climate change hotspot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68096"/>
            <a:ext cx="2286000" cy="387705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914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4592" y="19019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from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724912"/>
            <a:ext cx="1920240" cy="27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2× faster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global average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system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today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33472" y="768096"/>
            <a:ext cx="634593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969264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55264" y="859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Forest Fires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55264" y="1152144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63,724 fires in Turkey (last 20 yrs). Smoke plumes affect areas thousands of km away. Frequency rising with climate change.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633472" y="1719072"/>
            <a:ext cx="634593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92024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55264" y="18105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Saharan Dust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255264" y="2103120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85% of PM10 in parts of Turkey. Dust days increasing at 2.7/decade. Pan-European health implications.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633472" y="2670048"/>
            <a:ext cx="634593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287121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55264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Volcanic Emissions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255264" y="3054096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 aerosols from Eastern Mediterranean volcanic activity documented as recurring regional air quality driver.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633472" y="3621024"/>
            <a:ext cx="634593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382219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55264" y="37124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 Accidents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255264" y="4005072"/>
            <a:ext cx="5596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in close proximity to dense urban areas. Acute population exposure with zero advance warning capability.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27264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2752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0496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15984" y="0"/>
            <a:ext cx="118872" cy="5143500"/>
          </a:xfrm>
          <a:prstGeom prst="rect">
            <a:avLst/>
          </a:prstGeom>
          <a:solidFill>
            <a:srgbClr val="0E7490">
              <a:alpha val="13000"/>
            </a:srgbClr>
          </a:solidFill>
          <a:ln w="12700">
            <a:solidFill>
              <a:srgbClr val="0E7490">
                <a:alpha val="1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45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2  —  TURKISH INDUSTRIAL PARTNER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402336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airqoon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66928" y="11887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and easy-to-use environmental monitoring and management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1572768"/>
            <a:ext cx="658368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719072"/>
            <a:ext cx="3291840" cy="859536"/>
          </a:xfrm>
          <a:prstGeom prst="rect">
            <a:avLst/>
          </a:prstGeom>
          <a:solidFill>
            <a:srgbClr val="0D2A44"/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1792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years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" y="217627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2013 as Inovatink — IoT &amp; environmental monitoring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2651760"/>
            <a:ext cx="3291840" cy="859536"/>
          </a:xfrm>
          <a:prstGeom prst="rect">
            <a:avLst/>
          </a:prstGeom>
          <a:solidFill>
            <a:srgbClr val="0D2A44"/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 cities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" y="310896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deployments across Turkey and EMEA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584448"/>
            <a:ext cx="3291840" cy="859536"/>
          </a:xfrm>
          <a:prstGeom prst="rect">
            <a:avLst/>
          </a:prstGeom>
          <a:solidFill>
            <a:srgbClr val="0D2A44"/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 units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" y="404164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systems in active field operation today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9664" y="1719072"/>
            <a:ext cx="438912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69664" y="2029968"/>
            <a:ext cx="4389120" cy="80467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9664" y="2029968"/>
            <a:ext cx="64008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4256" y="211226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L  —  Outdoor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34256" y="23774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Multi-pollutant ambient monitoring: NO, NO₂, O₃, SO₂, CO, PM1–PM10, meteorological. Solar-powered, 4G/LTE.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9664" y="2907792"/>
            <a:ext cx="4389120" cy="80467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9664" y="290779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299008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M  —  Indoor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34256" y="3255264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PM1–PM10, CO₂, tVOC, temperature, humidity. For offices, schools, industrial indoor environments.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9664" y="3785616"/>
            <a:ext cx="4389120" cy="804672"/>
          </a:xfrm>
          <a:prstGeom prst="rect">
            <a:avLst/>
          </a:prstGeom>
          <a:solidFill>
            <a:srgbClr val="0D2A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9664" y="3785616"/>
            <a:ext cx="64008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386791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Airqoon Lens  —  Platform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34256" y="4133088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analytics: automated reports, real-time dashboards, regulatory compliance support.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590288"/>
            <a:ext cx="7991856" cy="256032"/>
          </a:xfrm>
          <a:prstGeom prst="rect">
            <a:avLst/>
          </a:prstGeom>
          <a:solidFill>
            <a:srgbClr val="08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590288"/>
            <a:ext cx="7991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İBB · Bursa BB · Akçansa · TÜPRAŞ · Oyak Çimento · ÇimSA · Enerjisa    ·    ISO 27001  ·  CE  ·  Marmara University Teknopark  ·  TechIstanbul Alumni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MELTEM 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integrated extreme-event air quality warning platform in the Eastern Mediterranean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768096"/>
            <a:ext cx="27432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68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INPUTS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" y="1115568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2529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17043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Network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38988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validated Unit L sensors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335024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4592" y="1696212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059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175107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Supersites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197053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PAHs, OP, LDSA sampling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907792" y="1915668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64592" y="2276856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8658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" y="23317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Measurements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255117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during extreme events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907792" y="2496312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64592" y="2857500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6722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" y="291236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FLEXPART Modeling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313182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dispersion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2907792" y="3076956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64592" y="3438144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547872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349300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Satellite Observations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371246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&amp; fire hotspot tracking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2907792" y="3657600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64592" y="4018788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128516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40080" y="40736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CAMS Forecasts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0080" y="42931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upload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2907792" y="4238244"/>
            <a:ext cx="34747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255264" y="1115568"/>
            <a:ext cx="2633472" cy="3502152"/>
          </a:xfrm>
          <a:prstGeom prst="rect">
            <a:avLst/>
          </a:prstGeom>
          <a:solidFill>
            <a:srgbClr val="0D1F3C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3255264" y="157276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MELTEM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2200" dirty="0"/>
          </a:p>
        </p:txBody>
      </p:sp>
      <p:sp>
        <p:nvSpPr>
          <p:cNvPr id="40" name="Shape 32"/>
          <p:cNvSpPr/>
          <p:nvPr/>
        </p:nvSpPr>
        <p:spPr>
          <a:xfrm>
            <a:off x="3566160" y="2423160"/>
            <a:ext cx="201168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255264" y="2523744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3255264" y="42062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 ·  Heraklion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236208" y="768096"/>
            <a:ext cx="27432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236208" y="768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236208" y="1115568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1225296"/>
            <a:ext cx="292608" cy="29260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711696" y="117043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AQI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6711696" y="138988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 &amp; authorities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5888736" y="1335024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236208" y="1696212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1805940"/>
            <a:ext cx="292608" cy="29260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711696" y="175107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Indices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6711696" y="197053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LDSA, OP, PAH exposure</a:t>
            </a:r>
            <a:endParaRPr lang="en-US" sz="850" dirty="0"/>
          </a:p>
        </p:txBody>
      </p:sp>
      <p:sp>
        <p:nvSpPr>
          <p:cNvPr id="54" name="Shape 44"/>
          <p:cNvSpPr/>
          <p:nvPr/>
        </p:nvSpPr>
        <p:spPr>
          <a:xfrm>
            <a:off x="5888736" y="1915668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6236208" y="2276856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2386584"/>
            <a:ext cx="292608" cy="29260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711696" y="23317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Alarm Thresholds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6711696" y="255117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Pollutant-specific pre-alerts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5888736" y="2496312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6236208" y="2857500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5936" y="2967228"/>
            <a:ext cx="292608" cy="292608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711696" y="291236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Maps</a:t>
            </a:r>
            <a:endParaRPr lang="en-US" sz="1000" dirty="0"/>
          </a:p>
        </p:txBody>
      </p:sp>
      <p:sp>
        <p:nvSpPr>
          <p:cNvPr id="63" name="Text 51"/>
          <p:cNvSpPr/>
          <p:nvPr/>
        </p:nvSpPr>
        <p:spPr>
          <a:xfrm>
            <a:off x="6711696" y="313182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&amp; Heraklion</a:t>
            </a:r>
            <a:endParaRPr lang="en-US" sz="850" dirty="0"/>
          </a:p>
        </p:txBody>
      </p:sp>
      <p:sp>
        <p:nvSpPr>
          <p:cNvPr id="64" name="Shape 52"/>
          <p:cNvSpPr/>
          <p:nvPr/>
        </p:nvSpPr>
        <p:spPr>
          <a:xfrm>
            <a:off x="5888736" y="3076956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6236208" y="3438144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3547872"/>
            <a:ext cx="292608" cy="292608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6711696" y="349300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Dataset</a:t>
            </a:r>
            <a:endParaRPr lang="en-US" sz="1000" dirty="0"/>
          </a:p>
        </p:txBody>
      </p:sp>
      <p:sp>
        <p:nvSpPr>
          <p:cNvPr id="68" name="Text 55"/>
          <p:cNvSpPr/>
          <p:nvPr/>
        </p:nvSpPr>
        <p:spPr>
          <a:xfrm>
            <a:off x="6711696" y="371246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Mediterranean reference data</a:t>
            </a:r>
            <a:endParaRPr lang="en-US" sz="850" dirty="0"/>
          </a:p>
        </p:txBody>
      </p:sp>
      <p:sp>
        <p:nvSpPr>
          <p:cNvPr id="69" name="Shape 56"/>
          <p:cNvSpPr/>
          <p:nvPr/>
        </p:nvSpPr>
        <p:spPr>
          <a:xfrm>
            <a:off x="5888736" y="3657600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6236208" y="4018788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128516"/>
            <a:ext cx="292608" cy="292608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6711696" y="40736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Interface</a:t>
            </a:r>
            <a:endParaRPr lang="en-US" sz="1000" dirty="0"/>
          </a:p>
        </p:txBody>
      </p:sp>
      <p:sp>
        <p:nvSpPr>
          <p:cNvPr id="73" name="Text 59"/>
          <p:cNvSpPr/>
          <p:nvPr/>
        </p:nvSpPr>
        <p:spPr>
          <a:xfrm>
            <a:off x="6711696" y="42931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 dashboards</a:t>
            </a:r>
            <a:endParaRPr lang="en-US" sz="850" dirty="0"/>
          </a:p>
        </p:txBody>
      </p:sp>
      <p:sp>
        <p:nvSpPr>
          <p:cNvPr id="74" name="Shape 60"/>
          <p:cNvSpPr/>
          <p:nvPr/>
        </p:nvSpPr>
        <p:spPr>
          <a:xfrm>
            <a:off x="5888736" y="4238244"/>
            <a:ext cx="347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77" name="Text 63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AIRQOON'S ROLE  —  WP3 LEAD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Validation · Deployment · Network Sustainability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778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152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33502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calibration: exposure chamber, dilution calibrator, zero air generator. CEN/TS 17660-1 &amp; -2 methodology.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" y="190195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54864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865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139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32257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 L sensors across Istanbul &amp; Heraklion. 3 site typologies: traffic, urban background, suburban.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2889504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392424"/>
            <a:ext cx="54864" cy="42062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852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31012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 against BU &amp; UoC reference instruments. Location-specific ML correction algorithms.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387705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3840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114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429768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QA/QC, drift monitoring, predictive maintenance, rapid sensor replacement.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82896" y="768096"/>
            <a:ext cx="2084832" cy="15727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82896" y="10241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882896" y="1755648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units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768096"/>
            <a:ext cx="2084832" cy="15727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102412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7040880" y="1755648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typologies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82896" y="2414016"/>
            <a:ext cx="2084832" cy="15727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82896" y="26700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4882896" y="3401568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network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414016"/>
            <a:ext cx="2084832" cy="157276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267004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200" dirty="0"/>
          </a:p>
        </p:txBody>
      </p:sp>
      <p:sp>
        <p:nvSpPr>
          <p:cNvPr id="40" name="Text 38"/>
          <p:cNvSpPr/>
          <p:nvPr/>
        </p:nvSpPr>
        <p:spPr>
          <a:xfrm>
            <a:off x="7040880" y="3401568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&amp; Heraklion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82896" y="4059936"/>
            <a:ext cx="4242816" cy="6400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411480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Transfer (TÜBİTAK 1071 objective):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10912" y="42976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enables Airqoon to formally integrate CEN/TS 17660 &amp; ACTRIS methodologies into Turkish operational practice — directly advancing EU market readiness.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AIRQOON UNIT L  —  TECHNICAL SPECIFICATIONS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" y="768096"/>
            <a:ext cx="2926080" cy="3877056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Multi-Pollutant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88336"/>
            <a:ext cx="2340864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1635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Solar panel + battery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14553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4G/LTE real-time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-10°C to +65°C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80390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 conformity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13308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 27001 data infra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36976" y="768096"/>
            <a:ext cx="5742432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76809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Gaseous Pollutants  (Electrochemical)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1042416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6984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NO₂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106984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0.82  |  LOD: 2 ppb  |  0–5000 ppb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6976" y="1289304"/>
            <a:ext cx="5742432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3167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9744" y="1316736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0.82  |  LOD: 5 ppb  |  0–5000 ppb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36976" y="1536192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56362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9744" y="1563624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0.70  |  LOD: 5 ppb  |  0–5000 ppb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36976" y="1783080"/>
            <a:ext cx="5742432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81051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9744" y="1810512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0.80  |  LOD: 100 ppb  |  0–500 ppm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36976" y="2139696"/>
            <a:ext cx="574243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13969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Particulate Matter  (OPC-N3)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36976" y="2414016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44144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PM1, PM2.5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9744" y="244144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0.90  |  Full size distribution  |  0–1000 µg/m³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36976" y="2660904"/>
            <a:ext cx="5742432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68833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9744" y="2688336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0.90  |  Dynamic density correction  |  0–1000 µg/m³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36976" y="3017520"/>
            <a:ext cx="574243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01752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— MELTEM Config  (EU AQD 2024/2881)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36976" y="3291840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31927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Carbon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9744" y="3319272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Micro-aethalometer (MA350)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36976" y="3538728"/>
            <a:ext cx="5742432" cy="2468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566160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 / PNC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9744" y="3566160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CPC: 10 nm – 2.5 µm size range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36976" y="3785616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381304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LDSA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9744" y="381304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OPC size distribution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36976" y="4142232"/>
            <a:ext cx="5742432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4142232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Meteorological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36976" y="4416552"/>
            <a:ext cx="574243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444398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RH / 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09744" y="4443984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±1.0°C  |  ±3% RH  |  ±1 hPa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36976" y="4370832"/>
            <a:ext cx="5742432" cy="274320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4370832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Covers all parameters newly regulated under EU AQD 2024/2881 — BC, PNC, LDSA — positioning MELTEM at the regulatory frontier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&amp; VALIDATION METHODOLOGY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768096"/>
            <a:ext cx="416052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680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Gaseous Pollutants  —  CEN/TS 17660-1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88720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43000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exposure chamber with certified reference gas standards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1682496"/>
            <a:ext cx="41605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755648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709928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correction models: temperature, humidity &amp; cross-sensitivity compensation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4592" y="2249424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22576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76856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 validation against reference analyzers at BU &amp; UoC supersites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" y="2816352"/>
            <a:ext cx="41605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889504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843784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recalibration cycles — drift detection and algorithm retraining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3383280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456432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410712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maintained throughout 24-month deployment period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768096"/>
            <a:ext cx="41605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7680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Particulate Matter  —  CEN/TS 17660-2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1115568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1887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143000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OPC-N3 provides full particle size distribution — enables dynamic density correction during extreme events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1682496"/>
            <a:ext cx="41605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75564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709928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test dust for dust storm simulation; biomass burning aerosol for wildfire characterization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2249424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32257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276856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systematic errors of fixed-density assumptions under non-urban conditions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2816352"/>
            <a:ext cx="41605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288950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843784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 for Istanbul &amp; Heraklion — first validated Eastern Mediterranean dataset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3383280"/>
            <a:ext cx="4160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45643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410712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QA/QC: inter-sensor comparisons, anomaly detection, same-day response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4592" y="3968496"/>
            <a:ext cx="8814816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968496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contribution: Location-specific calibration datasets for Eastern Mediterranean conditions — currently absent from the literature. MELTEM fills this gap.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4592" y="4206240"/>
            <a:ext cx="8814816" cy="475488"/>
          </a:xfrm>
          <a:prstGeom prst="rect">
            <a:avLst/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407408"/>
            <a:ext cx="8540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sensor units on-site for rapid replacement  ·  Automated QA/QC flags trigger same-day response  ·  BU reference data cross-validated against UoC instruments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TRACK RECORD &amp; POST-PROJECT SUSTAINABILITY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" y="768096"/>
            <a:ext cx="2834640" cy="102412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822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64592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768096"/>
            <a:ext cx="2834640" cy="102412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822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Deployed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768096"/>
            <a:ext cx="2834640" cy="1024128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822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44768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(EMEA)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1901952"/>
            <a:ext cx="4160520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019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Municipal Clients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2231136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5856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Istanbul Metropolitan Municipality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416052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6090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Bursa Metropolitan Municipality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3035808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İnegöl · Mudanya · Nilüfer · Kadıköy · Avcılar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1901952"/>
            <a:ext cx="416052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9019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 Clients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2231136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25856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Akçansa · Oyak Çimento · Çimentaş · ÇimSA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33472"/>
            <a:ext cx="416052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6090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TÜPRAŞ · Enerjisa Üretim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035808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06324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Eastern Anatolia Observatory (Erzurum)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3511296"/>
            <a:ext cx="8814816" cy="4572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Emergency Precedent: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3730752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2023 Kahramanmaraş Earthquake, Airqoon deployed mobile sensors to replace damaged reference stations for real-time environmental assessment — direct precedent for MELTEM's extreme event response capability.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4023360"/>
            <a:ext cx="8814816" cy="4572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059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Post-Project Sustainability: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242816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MELTEM sensor network will continue operating through Airqoon's commercial client base — ensuring long-term data continuity independent of project funding. This is not a prototype.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CONTRIBUTION  &amp;  PRINCIPAL INVESTIGATOR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" y="768096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68096"/>
            <a:ext cx="54864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0058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85953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Contribution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1133856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sensor performance dataset for Eastern Mediterranean conditions — dust, wildfire, urban. Publicly available. Currently absent from the literature.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4592" y="1737360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4592" y="1737360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7510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18288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Contribution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4672" y="2103120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Location-specific calibration algorithms (Istanbul &amp; Heraklion) benchmarked against ACTRIS-linked instruments. Co-authorship on peer-reviewed sensor calibration publication.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4592" y="2706624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64592" y="2706624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94436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" y="2798064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Contribution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04672" y="3072384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 data supports Airqoon's "Indicative Measurement Ready" certification under EU AQD 2024/2881 — a first-mover commercial outcome directly derived from scientific work.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64592" y="3675888"/>
            <a:ext cx="5120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4592" y="3675888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91363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37673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Contribution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04672" y="4041648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combined OPC + micro-aethalometer + CPC deployment validated against ACTRIS-grade instruments in an Eastern Mediterranean urban context.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68112" y="768096"/>
            <a:ext cx="3511296" cy="3877056"/>
          </a:xfrm>
          <a:prstGeom prst="rect">
            <a:avLst/>
          </a:prstGeom>
          <a:solidFill>
            <a:srgbClr val="0D1F3C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68112" y="768096"/>
            <a:ext cx="3511296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68112" y="76809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 Investigator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59552" y="118872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Barış Can Üstündağ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559552" y="1517904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Co-founder, Airqoon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55955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BSc &amp; MSc Mechatronics Eng. — Sabancı University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5559552" y="2249424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Founded Inovatink (2013) — 13 years IoT &amp; environmental monitoring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559552" y="265176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WEF Global Shapers Community Alumni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559552" y="3054096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Systems deployed: 30+ cities, 12+ countries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5559552" y="3456432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Research: fluorescence gas sensing, ML correction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urban PM characterization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650992" y="3858768"/>
            <a:ext cx="3145536" cy="27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559552" y="3931920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publications: Spectrochimica Acta 2024 (NO₂ fluorescence sensor) · ICAT 2022 (electrochemical correction models) · ATMOSFER 2022 (urban PM monitoring)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PLAN  &amp;  RISK MANAGEMENT  —  AIRQOON / WP3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0" y="786384"/>
            <a:ext cx="6236208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522726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62094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01462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40830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680198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19566" y="813816"/>
            <a:ext cx="5196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" y="1078992"/>
            <a:ext cx="2505456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11556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078992"/>
            <a:ext cx="6236208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170432"/>
            <a:ext cx="2078736" cy="292608"/>
          </a:xfrm>
          <a:prstGeom prst="rect">
            <a:avLst/>
          </a:prstGeom>
          <a:solidFill>
            <a:srgbClr val="0E7490">
              <a:alpha val="85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1188720"/>
            <a:ext cx="193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Deployment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" y="1627632"/>
            <a:ext cx="2505456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66420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&amp; QA/QC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1627632"/>
            <a:ext cx="6236208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719072"/>
            <a:ext cx="6236208" cy="292608"/>
          </a:xfrm>
          <a:prstGeom prst="rect">
            <a:avLst/>
          </a:prstGeom>
          <a:solidFill>
            <a:srgbClr val="16A34A">
              <a:alpha val="85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1737360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 &amp; QA/QC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2176272"/>
            <a:ext cx="2505456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212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Pilots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176272"/>
            <a:ext cx="6236208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20356" y="2267712"/>
            <a:ext cx="1559052" cy="292608"/>
          </a:xfrm>
          <a:prstGeom prst="rect">
            <a:avLst/>
          </a:prstGeom>
          <a:solidFill>
            <a:srgbClr val="F59E0B">
              <a:alpha val="8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3508" y="2286000"/>
            <a:ext cx="141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 &amp; Pilots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52950" y="1060704"/>
            <a:ext cx="502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2950" y="1060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10422" y="1609344"/>
            <a:ext cx="502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0422" y="16093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64592" y="2560320"/>
            <a:ext cx="8814816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256032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4592" y="2852928"/>
            <a:ext cx="881481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failure during extreme event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21024" y="2907792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1024" y="2907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52544" y="2907792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52544" y="29077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02352" y="288950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units on-site; 48-hour replacement protocol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4592" y="3200400"/>
            <a:ext cx="8814816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station data gap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21024" y="3255264"/>
            <a:ext cx="6583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1024" y="3255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352544" y="3255264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52544" y="3255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02352" y="323697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&amp; UoC instruments provide independent cross-validation layer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4592" y="3547872"/>
            <a:ext cx="881481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3584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drift in field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21024" y="3602736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21024" y="36027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52544" y="3602736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52544" y="36027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102352" y="358444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recalibration cycle; automated drift detection flags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64592" y="3895344"/>
            <a:ext cx="8814816" cy="32918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delay for sensors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21024" y="3950208"/>
            <a:ext cx="6583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1024" y="3950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352544" y="3950208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52544" y="3950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102352" y="39319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sensor inventory procured before M1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4592" y="4242816"/>
            <a:ext cx="8814816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" y="4279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access restriction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21024" y="4297680"/>
            <a:ext cx="6583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21024" y="42976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352544" y="4297680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52544" y="42976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102352" y="427939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with municipalities secured prior to deployment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83280" y="2615184"/>
            <a:ext cx="5522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     Severity →     Mitigation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6448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CASE FOR THIS COLLABORATION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360" y="676656"/>
            <a:ext cx="6858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822960"/>
            <a:ext cx="2688336" cy="2633472"/>
          </a:xfrm>
          <a:prstGeom prst="rect">
            <a:avLst/>
          </a:prstGeom>
          <a:solidFill>
            <a:srgbClr val="0D2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96112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2376" y="135331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Greece brings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2376" y="1700784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ACTRIS access &amp; European calibration infrastructure · Prof. Kanakidou (h=59) &amp; Mihalopoulos (h=85) · EU regulatory and scientific networks · Geospatial platform expertise via 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10712" y="822960"/>
            <a:ext cx="2688336" cy="2633472"/>
          </a:xfrm>
          <a:prstGeom prst="rect">
            <a:avLst/>
          </a:prstGeom>
          <a:solidFill>
            <a:srgbClr val="0D2A44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896112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38728" y="135331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Turkey brings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38728" y="1700784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IoT sensors at scale across Turkish cities · In-house manufacturing &amp; calibration · Deep municipal and industrial client relationships · Istanbul megacity atmospheric complexity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227064" y="822960"/>
            <a:ext cx="2688336" cy="2633472"/>
          </a:xfrm>
          <a:prstGeom prst="rect">
            <a:avLst/>
          </a:prstGeom>
          <a:solidFill>
            <a:srgbClr val="0D2A44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89611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135331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neither can create alone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55080" y="1700784"/>
            <a:ext cx="24323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operational, near real-time warning platform — scientifically credible by EU standards and commercially sustainable through Turkish deployment infrastructure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94360" y="3566160"/>
            <a:ext cx="8375904" cy="292608"/>
          </a:xfrm>
          <a:prstGeom prst="rect">
            <a:avLst/>
          </a:prstGeom>
          <a:solidFill>
            <a:srgbClr val="0E7490">
              <a:alpha val="8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4944" y="3566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Airqoon specifically, MELTEM delivers: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1792" y="3913632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9536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CEN/TS 17660 &amp; ACTRIS methodology integration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724912" y="3913632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962656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AQD 2024/2881 indicative measurement alignment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828032" y="3913632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65776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scientific publications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931152" y="3913632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168896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 entry foundation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94360" y="4187952"/>
            <a:ext cx="8375904" cy="621792"/>
          </a:xfrm>
          <a:prstGeom prst="rect">
            <a:avLst/>
          </a:prstGeom>
          <a:solidFill>
            <a:srgbClr val="081828"/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31520" y="4206240"/>
            <a:ext cx="8101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infrastructure is operational.  The methodology is validated.  The bilateral collaboration is genuine.  MELTEM is ready.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37160" y="4873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MELTEM | TÜBİTAK-GSRI 2+2 | 125R175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6858000" y="4873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airqoon.com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MELTEM Project Presentation</dc:title>
  <dc:subject>PptxGenJS Presentation</dc:subject>
  <dc:creator>Barış Can Üstündağ</dc:creator>
  <cp:lastModifiedBy>Barış Can Üstündağ</cp:lastModifiedBy>
  <cp:revision>1</cp:revision>
  <dcterms:created xsi:type="dcterms:W3CDTF">2026-03-08T22:35:58Z</dcterms:created>
  <dcterms:modified xsi:type="dcterms:W3CDTF">2026-03-08T22:35:58Z</dcterms:modified>
</cp:coreProperties>
</file>